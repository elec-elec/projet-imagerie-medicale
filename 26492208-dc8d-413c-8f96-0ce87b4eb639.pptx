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98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4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21531"/>
            <a:ext cx="2800350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Tomographie par Émission de Positons (TEP)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28625" y="2724559"/>
            <a:ext cx="2800350" cy="72004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Principes Fondamentaux et Applications en Imagerie Moléculaire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PRINCIPES FONDAMENTAUX DE LA TEP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07306"/>
            <a:ext cx="3786188" cy="2678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07306"/>
            <a:ext cx="35719" cy="267890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521619"/>
            <a:ext cx="33575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MÉCANISME DE TRAÇAGE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1835944"/>
            <a:ext cx="3357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TEP repose sur l’injection intraveineuse d’un </a:t>
            </a:r>
            <a:r>
              <a:rPr lang="en-US" sz="10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radiotraceur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une substance marquée par un </a:t>
            </a:r>
            <a:r>
              <a:rPr lang="en-US" sz="10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isotope émetteur de positons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(ex: Fluor-18, Carbone-11).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2857500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traceur est spécifiquement conçu pour cibler des processus biologiques ou des tissus d'intérêt via une vectorisation moléculaire précise.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86313" y="1307306"/>
            <a:ext cx="3786188" cy="2221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786313" y="1307306"/>
            <a:ext cx="35719" cy="22217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521619"/>
            <a:ext cx="33575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EN CANCÉROLOGIE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00625" y="1835944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</a:t>
            </a:r>
            <a:r>
              <a:rPr lang="en-US" sz="10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¹⁸F-FDG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(fluoro-désoxyglucose) est le radiotraceur de référence.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00625" y="2400300"/>
            <a:ext cx="335756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s'accumule préférentiellement dans les cellules présentant un </a:t>
            </a:r>
            <a:r>
              <a:rPr lang="en-US" sz="10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métabolisme glucidique élevé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5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des </a:t>
            </a:r>
            <a:r>
              <a:rPr lang="en-US" sz="105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tumeurs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85850"/>
            <a:ext cx="8001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8001000" cy="8143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PRODUCTION ISOTOPIQUE ET SYNTHÈSE DU TRACEUR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85813" y="1621631"/>
            <a:ext cx="50006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 ISOTOPIQUE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1900238"/>
            <a:ext cx="5000625" cy="35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radioisotopes émetteurs de positons (ex: 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¹⁸F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sont produits par 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cyclotron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des réactions nucléaires induites par bombardement de 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protons.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5813" y="2357438"/>
            <a:ext cx="65" cy="1636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72188" y="1300163"/>
            <a:ext cx="2500313" cy="1571625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8" y="1300163"/>
            <a:ext cx="2500313" cy="1571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3086100"/>
            <a:ext cx="2500313" cy="1571625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2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371651"/>
            <a:ext cx="2500313" cy="10005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71875" y="3311128"/>
            <a:ext cx="50006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SYNTHÈSE DU RADIOTRACEUR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571875" y="3589734"/>
            <a:ext cx="5000625" cy="17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L'isotope </a:t>
            </a:r>
            <a:r>
              <a:rPr lang="en-US" sz="95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ensuite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incorporé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chimiquement à </a:t>
            </a:r>
            <a:r>
              <a:rPr lang="en-US" sz="95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molecule.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571875" y="4046934"/>
            <a:ext cx="5000625" cy="35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étape de marquage garantit la 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spécificité biologique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 traceur (ex: glucose pour le FDG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107656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07219"/>
            <a:ext cx="3114675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ANNIHILATION ET ÉMISSION PHOTONIQUE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0094" y="1811638"/>
            <a:ext cx="293608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DÉSINTÉGRATION Β⁺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0094" y="2022379"/>
            <a:ext cx="2936081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radioisotope subit une transition nucléaire émettant un </a:t>
            </a:r>
            <a:r>
              <a:rPr lang="en-US" sz="9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positon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Celui-ci parcourt un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trajet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quelques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milimetres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 a 3 mm) 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tissue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0094" y="2847482"/>
            <a:ext cx="2936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ÉVÉNEMENT D'ANNIHILATION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0094" y="3038577"/>
            <a:ext cx="2936081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du positon avec un électron du milieu,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entraînant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leur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annihilation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relachant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ainsi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certaine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quantité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d’energie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0094" y="4067277"/>
            <a:ext cx="2936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ÉMISSION DE PHOTONS GAMMA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0094" y="4258373"/>
            <a:ext cx="2936081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de </a:t>
            </a:r>
            <a:r>
              <a:rPr lang="en-US" sz="9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deux photons de 511 keV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émis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partent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 directions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diametralement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opposés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7713" y="500063"/>
            <a:ext cx="4143375" cy="4143375"/>
          </a:xfrm>
          <a:prstGeom prst="ellipse">
            <a:avLst/>
          </a:prstGeom>
          <a:solidFill>
            <a:srgbClr val="000000">
              <a:alpha val="0"/>
            </a:srgbClr>
          </a:solidFill>
          <a:ln w="73152">
            <a:solidFill>
              <a:srgbClr val="FFFFFF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944" y="0"/>
            <a:ext cx="510857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550069"/>
            <a:ext cx="3157538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DÉTECTION COÏNCIDENTE ET LOR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07194" y="1773045"/>
            <a:ext cx="30360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DU GANTRY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7194" y="2005217"/>
            <a:ext cx="303609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Photons interceptés par une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couronne de cristaux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couplés à des détecteurs.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7194" y="2502377"/>
            <a:ext cx="30360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PRINCIPE DE COÏNCIDENCE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7194" y="2734549"/>
            <a:ext cx="3036094" cy="37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Événements validés dans une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fenêtre </a:t>
            </a:r>
            <a:r>
              <a:rPr lang="en-US" sz="900" b="1" dirty="0" err="1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temporelle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900" b="1" dirty="0" err="1" smtClean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d’environ</a:t>
            </a:r>
            <a:r>
              <a:rPr lang="en-US" sz="900" b="1" dirty="0" smtClean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9 a 12 </a:t>
            </a:r>
            <a:r>
              <a:rPr lang="en-US" sz="900" b="1" dirty="0" smtClean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ns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7194" y="3231710"/>
            <a:ext cx="30360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LIGNE DE RÉPONSE (LOR)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7194" y="3463882"/>
            <a:ext cx="303609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paire définit une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LOR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trajectoire de l'annihilation.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50" y="124640"/>
            <a:ext cx="4780401" cy="48942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4494" y="119603"/>
            <a:ext cx="8001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ACQUISITION DES DONNÉES BRUTES : SINOGRAMMES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93069"/>
            <a:ext cx="3857625" cy="22359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52603" y="1017937"/>
            <a:ext cx="45719" cy="148706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54544" y="1150668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FORMATION DU SINOGRAMME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0277" y="1467688"/>
            <a:ext cx="3600450" cy="37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L'ensemble des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Lignes de Réponse (LOR)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enregistrés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sont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organisé</a:t>
            </a:r>
            <a:r>
              <a:rPr lang="en-US" sz="100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mathématiquement en </a:t>
            </a: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sinogrammes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8820" y="1930482"/>
            <a:ext cx="3600450" cy="574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point du sinogramme représente l'intégrale de l'activité le long d'une LOR, définie par son angle de projection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φ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sa distance radiale </a:t>
            </a:r>
            <a:r>
              <a:rPr lang="en-US" sz="9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rapport au centre du gantry.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7369" y="2886429"/>
            <a:ext cx="3857625" cy="2171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70232" y="2715144"/>
            <a:ext cx="35719" cy="217134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98820" y="2843731"/>
            <a:ext cx="3600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ET DIMENSIONNALITÉ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820" y="3136625"/>
            <a:ext cx="3600450" cy="188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sinogramme est une </a:t>
            </a:r>
            <a:r>
              <a:rPr lang="en-US" sz="10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matrice de </a:t>
            </a:r>
            <a:r>
              <a:rPr lang="en-US" sz="1000" b="1" dirty="0" err="1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données</a:t>
            </a:r>
            <a:r>
              <a:rPr lang="en-US" sz="10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000" b="1" dirty="0" smtClean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brutes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8820" y="3326173"/>
            <a:ext cx="3600450" cy="61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données constituent l'entrée fondamentale pour les algorithmes de </a:t>
            </a: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reconstruction tomographique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permettant de passer de l'espace des projections à l'espace image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303" y="580719"/>
            <a:ext cx="4549326" cy="45628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CORRECTIONS ESSENTIELLES EN TEP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80010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de la quantification de l'activité du radiotraceur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1500" y="156805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61500" y="1568053"/>
            <a:ext cx="45719" cy="8932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1746647"/>
            <a:ext cx="35361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CORRECTION D'ATTÉNUATION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0094" y="2021681"/>
            <a:ext cx="3536156" cy="35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Compense l'absorption et la diffusion des photons gamma par les tissus du patient. 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79156" y="156805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679156" y="1568053"/>
            <a:ext cx="35719" cy="168056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857750" y="1746647"/>
            <a:ext cx="35361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CORRECTION DE DIFFUSION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57750" y="2021681"/>
            <a:ext cx="3536156" cy="35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Élimine les événements issus de la 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diffusion Compton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Ces photons déviés faussent la trajectoire de la 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1500" y="346293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462933"/>
            <a:ext cx="45719" cy="122515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50094" y="3641527"/>
            <a:ext cx="35361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CORRECTION DES TEMPS MORTS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0094" y="3916561"/>
            <a:ext cx="3536156" cy="5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les pertes de comptage liées à l'incapacité du système de détection à traiter des événements trop </a:t>
            </a:r>
            <a:r>
              <a:rPr lang="en-US" sz="95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rapprochés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temporellement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79156" y="346293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79156" y="3462933"/>
            <a:ext cx="45719" cy="103286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3641527"/>
            <a:ext cx="35361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COÏNCIDENCES ALÉATOIRES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57750" y="3916561"/>
            <a:ext cx="3536156" cy="5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Soustrait statistiquement les </a:t>
            </a:r>
            <a:r>
              <a:rPr lang="en-US" sz="95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coïncidences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smtClean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photons issus de désintégrations distinctes. Cette correction améliore le 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rapport signal sur bruit (SNR)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l'image finale.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1" dirty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ALGORITHMES DE RECONSTRUCTION TEP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07306"/>
            <a:ext cx="3857625" cy="3836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07306"/>
            <a:ext cx="55978" cy="36202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521619"/>
            <a:ext cx="3429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RÉTROPROJECTION FILTRÉE (FBP)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5813" y="2560253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6072" y="4157773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85813" y="2978162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85813" y="3602347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307306"/>
            <a:ext cx="4131945" cy="3836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714875" y="1307306"/>
            <a:ext cx="45719" cy="373713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929188" y="1521619"/>
            <a:ext cx="3429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RECONSTRUCTION ITÉRATIVE (OSEM)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29188" y="1835944"/>
            <a:ext cx="3429000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28236" y="2705271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929188" y="4020784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48495" y="4439220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929188" y="3187117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929188" y="3533589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826331" y="1835944"/>
            <a:ext cx="3204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Approche analytique directe</a:t>
            </a:r>
            <a:r>
              <a:rPr lang="fr-FR" sz="1200" dirty="0"/>
              <a:t> : calcul mathématique rapide et immédiat de l'image.</a:t>
            </a:r>
            <a:endParaRPr 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4929188" y="1831547"/>
            <a:ext cx="264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Approche statistique</a:t>
            </a:r>
            <a:r>
              <a:rPr lang="fr-FR" sz="1200" dirty="0"/>
              <a:t> : l'image est affinée par cycles successifs </a:t>
            </a:r>
            <a:r>
              <a:rPr lang="fr-FR" sz="1200" dirty="0" smtClean="0"/>
              <a:t>pour </a:t>
            </a:r>
            <a:r>
              <a:rPr lang="fr-FR" sz="1200" dirty="0"/>
              <a:t>maximiser la fidélité aux données.</a:t>
            </a:r>
            <a:endParaRPr lang="en-US" sz="1200" dirty="0"/>
          </a:p>
        </p:txBody>
      </p:sp>
      <p:sp>
        <p:nvSpPr>
          <p:cNvPr id="36" name="Rectangle 1"/>
          <p:cNvSpPr>
            <a:spLocks noChangeArrowheads="1"/>
          </p:cNvSpPr>
          <p:nvPr/>
        </p:nvSpPr>
        <p:spPr bwMode="auto">
          <a:xfrm>
            <a:off x="4886325" y="2619257"/>
            <a:ext cx="42576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Estimation 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L'ordinateur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uniforme</a:t>
            </a:r>
            <a:r>
              <a:rPr kumimoji="0" lang="en-US" altLang="en-US" sz="105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sz="105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 </a:t>
            </a:r>
            <a:r>
              <a:rPr kumimoji="0" lang="en-US" altLang="en-US" sz="105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d’une</a:t>
            </a:r>
            <a:r>
              <a:rPr kumimoji="0" lang="en-US" altLang="en-US" sz="105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FBP.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Projection 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mathématiquement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quoi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ressemblerait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sinogramme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cette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</a:t>
            </a:r>
            <a:r>
              <a:rPr kumimoji="0" lang="en-US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compare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sinogramme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le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sinogramme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capté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 le patient.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Correction 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l'image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réduire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différence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Répétition</a:t>
            </a:r>
            <a:r>
              <a:rPr kumimoji="0" lang="en-US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recommence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cycle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plusieurs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fois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jusqu'à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son image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soit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presque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identique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la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réalité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673" y="2477878"/>
            <a:ext cx="3662363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 err="1">
                <a:latin typeface="Arial" panose="020B0604020202020204" pitchFamily="34" charset="0"/>
              </a:rPr>
              <a:t>Filtrage</a:t>
            </a:r>
            <a:r>
              <a:rPr lang="en-US" altLang="en-US" sz="1100" b="1" dirty="0">
                <a:latin typeface="Arial" panose="020B0604020202020204" pitchFamily="34" charset="0"/>
              </a:rPr>
              <a:t> :</a:t>
            </a:r>
            <a:r>
              <a:rPr lang="en-US" altLang="en-US" sz="1100" dirty="0">
                <a:latin typeface="Arial" panose="020B0604020202020204" pitchFamily="34" charset="0"/>
              </a:rPr>
              <a:t> On applique un </a:t>
            </a:r>
            <a:r>
              <a:rPr lang="en-US" altLang="en-US" sz="1100" dirty="0" err="1">
                <a:latin typeface="Arial" panose="020B0604020202020204" pitchFamily="34" charset="0"/>
              </a:rPr>
              <a:t>filtre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passe</a:t>
            </a:r>
            <a:r>
              <a:rPr lang="en-US" altLang="en-US" sz="1100" dirty="0">
                <a:latin typeface="Arial" panose="020B0604020202020204" pitchFamily="34" charset="0"/>
              </a:rPr>
              <a:t>-haut </a:t>
            </a:r>
            <a:r>
              <a:rPr lang="en-US" altLang="en-US" sz="1100" dirty="0" err="1" smtClean="0">
                <a:latin typeface="Arial" panose="020B0604020202020204" pitchFamily="34" charset="0"/>
              </a:rPr>
              <a:t>dans</a:t>
            </a:r>
            <a:r>
              <a:rPr lang="en-US" altLang="en-US" sz="1100" dirty="0" smtClean="0">
                <a:latin typeface="Arial" panose="020B0604020202020204" pitchFamily="34" charset="0"/>
              </a:rPr>
              <a:t> le </a:t>
            </a:r>
            <a:r>
              <a:rPr lang="en-US" altLang="en-US" sz="1100" dirty="0" err="1" smtClean="0">
                <a:latin typeface="Arial" panose="020B0604020202020204" pitchFamily="34" charset="0"/>
              </a:rPr>
              <a:t>domaine</a:t>
            </a:r>
            <a:r>
              <a:rPr lang="en-US" altLang="en-US" sz="1100" dirty="0" smtClean="0">
                <a:latin typeface="Arial" panose="020B0604020202020204" pitchFamily="34" charset="0"/>
              </a:rPr>
              <a:t> de </a:t>
            </a:r>
            <a:r>
              <a:rPr lang="en-US" altLang="en-US" sz="1100" dirty="0" err="1" smtClean="0">
                <a:latin typeface="Arial" panose="020B0604020202020204" pitchFamily="34" charset="0"/>
              </a:rPr>
              <a:t>fourier</a:t>
            </a:r>
            <a:r>
              <a:rPr lang="en-US" altLang="en-US" sz="1100" dirty="0" smtClean="0">
                <a:latin typeface="Arial" panose="020B0604020202020204" pitchFamily="34" charset="0"/>
              </a:rPr>
              <a:t> aux </a:t>
            </a:r>
            <a:r>
              <a:rPr lang="en-US" altLang="en-US" sz="1100" dirty="0" err="1">
                <a:latin typeface="Arial" panose="020B0604020202020204" pitchFamily="34" charset="0"/>
              </a:rPr>
              <a:t>rangées</a:t>
            </a:r>
            <a:r>
              <a:rPr lang="en-US" altLang="en-US" sz="1100" dirty="0">
                <a:latin typeface="Arial" panose="020B0604020202020204" pitchFamily="34" charset="0"/>
              </a:rPr>
              <a:t> du </a:t>
            </a:r>
            <a:r>
              <a:rPr lang="en-US" altLang="en-US" sz="1100" dirty="0" err="1">
                <a:latin typeface="Arial" panose="020B0604020202020204" pitchFamily="34" charset="0"/>
              </a:rPr>
              <a:t>sinogramme</a:t>
            </a:r>
            <a:r>
              <a:rPr lang="en-US" altLang="en-US" sz="1100" dirty="0">
                <a:latin typeface="Arial" panose="020B0604020202020204" pitchFamily="34" charset="0"/>
              </a:rPr>
              <a:t> pour </a:t>
            </a:r>
            <a:r>
              <a:rPr lang="en-US" altLang="en-US" sz="1100" dirty="0" err="1">
                <a:latin typeface="Arial" panose="020B0604020202020204" pitchFamily="34" charset="0"/>
              </a:rPr>
              <a:t>atténuer</a:t>
            </a:r>
            <a:r>
              <a:rPr lang="en-US" altLang="en-US" sz="1100" dirty="0">
                <a:latin typeface="Arial" panose="020B0604020202020204" pitchFamily="34" charset="0"/>
              </a:rPr>
              <a:t> le </a:t>
            </a:r>
            <a:r>
              <a:rPr lang="en-US" altLang="en-US" sz="1100" dirty="0" err="1">
                <a:latin typeface="Arial" panose="020B0604020202020204" pitchFamily="34" charset="0"/>
              </a:rPr>
              <a:t>flou</a:t>
            </a:r>
            <a:r>
              <a:rPr lang="en-US" altLang="en-US" sz="1100" dirty="0">
                <a:latin typeface="Arial" panose="020B0604020202020204" pitchFamily="34" charset="0"/>
              </a:rPr>
              <a:t> des basses </a:t>
            </a:r>
            <a:r>
              <a:rPr lang="en-US" altLang="en-US" sz="1100" dirty="0" err="1">
                <a:latin typeface="Arial" panose="020B0604020202020204" pitchFamily="34" charset="0"/>
              </a:rPr>
              <a:t>fréquences</a:t>
            </a:r>
            <a:r>
              <a:rPr lang="en-US" altLang="en-US" sz="1100" dirty="0">
                <a:latin typeface="Arial" panose="020B0604020202020204" pitchFamily="34" charset="0"/>
              </a:rPr>
              <a:t> et </a:t>
            </a:r>
            <a:r>
              <a:rPr lang="en-US" altLang="en-US" sz="1100" dirty="0" err="1">
                <a:latin typeface="Arial" panose="020B0604020202020204" pitchFamily="34" charset="0"/>
              </a:rPr>
              <a:t>accentuer</a:t>
            </a:r>
            <a:r>
              <a:rPr lang="en-US" altLang="en-US" sz="1100" dirty="0">
                <a:latin typeface="Arial" panose="020B0604020202020204" pitchFamily="34" charset="0"/>
              </a:rPr>
              <a:t> les </a:t>
            </a:r>
            <a:r>
              <a:rPr lang="en-US" altLang="en-US" sz="1100" dirty="0" err="1">
                <a:latin typeface="Arial" panose="020B0604020202020204" pitchFamily="34" charset="0"/>
              </a:rPr>
              <a:t>détails</a:t>
            </a:r>
            <a:r>
              <a:rPr lang="en-US" altLang="en-US" sz="1100" dirty="0">
                <a:latin typeface="Arial" panose="020B0604020202020204" pitchFamily="34" charset="0"/>
              </a:rPr>
              <a:t> fins</a:t>
            </a:r>
            <a:r>
              <a:rPr lang="en-US" altLang="en-US" sz="1100" dirty="0" smtClean="0">
                <a:latin typeface="Arial" panose="020B0604020202020204" pitchFamily="34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 err="1">
                <a:latin typeface="Arial" panose="020B0604020202020204" pitchFamily="34" charset="0"/>
              </a:rPr>
              <a:t>Rétroprojection</a:t>
            </a:r>
            <a:r>
              <a:rPr lang="en-US" altLang="en-US" sz="1100" b="1" dirty="0">
                <a:latin typeface="Arial" panose="020B0604020202020204" pitchFamily="34" charset="0"/>
              </a:rPr>
              <a:t> :</a:t>
            </a:r>
            <a:r>
              <a:rPr lang="en-US" altLang="en-US" sz="1100" dirty="0">
                <a:latin typeface="Arial" panose="020B0604020202020204" pitchFamily="34" charset="0"/>
              </a:rPr>
              <a:t> Les </a:t>
            </a:r>
            <a:r>
              <a:rPr lang="en-US" altLang="en-US" sz="1100" dirty="0" err="1">
                <a:latin typeface="Arial" panose="020B0604020202020204" pitchFamily="34" charset="0"/>
              </a:rPr>
              <a:t>données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filtrées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sont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ensuite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étalées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dans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l'image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selon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leurs</a:t>
            </a:r>
            <a:r>
              <a:rPr lang="en-US" altLang="en-US" sz="1100" dirty="0">
                <a:latin typeface="Arial" panose="020B0604020202020204" pitchFamily="34" charset="0"/>
              </a:rPr>
              <a:t> angles </a:t>
            </a:r>
            <a:r>
              <a:rPr lang="en-US" altLang="en-US" sz="1100" dirty="0" err="1">
                <a:latin typeface="Arial" panose="020B0604020202020204" pitchFamily="34" charset="0"/>
              </a:rPr>
              <a:t>respectifs</a:t>
            </a:r>
            <a:r>
              <a:rPr lang="en-US" altLang="en-US" sz="1100" dirty="0">
                <a:latin typeface="Arial" panose="020B0604020202020204" pitchFamily="34" charset="0"/>
              </a:rPr>
              <a:t>, </a:t>
            </a:r>
            <a:r>
              <a:rPr lang="en-US" altLang="en-US" sz="1100" dirty="0" err="1">
                <a:latin typeface="Arial" panose="020B0604020202020204" pitchFamily="34" charset="0"/>
              </a:rPr>
              <a:t>s'accumulant</a:t>
            </a:r>
            <a:r>
              <a:rPr lang="en-US" altLang="en-US" sz="1100" dirty="0">
                <a:latin typeface="Arial" panose="020B0604020202020204" pitchFamily="34" charset="0"/>
              </a:rPr>
              <a:t> par intersections pour </a:t>
            </a:r>
            <a:r>
              <a:rPr lang="en-US" altLang="en-US" sz="1100" dirty="0" err="1">
                <a:latin typeface="Arial" panose="020B0604020202020204" pitchFamily="34" charset="0"/>
              </a:rPr>
              <a:t>localiser</a:t>
            </a: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</a:rPr>
              <a:t>précisément</a:t>
            </a:r>
            <a:r>
              <a:rPr lang="en-US" altLang="en-US" sz="1100" dirty="0">
                <a:latin typeface="Arial" panose="020B0604020202020204" pitchFamily="34" charset="0"/>
              </a:rPr>
              <a:t> les concentrations de </a:t>
            </a:r>
            <a:r>
              <a:rPr lang="en-US" altLang="en-US" sz="1100" dirty="0" err="1">
                <a:latin typeface="Arial" panose="020B0604020202020204" pitchFamily="34" charset="0"/>
              </a:rPr>
              <a:t>traceur</a:t>
            </a:r>
            <a:r>
              <a:rPr lang="en-US" altLang="en-US" sz="1100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7219"/>
            <a:ext cx="8001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1" dirty="0" err="1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Qu’est-ce-qu’on</a:t>
            </a:r>
            <a:r>
              <a:rPr lang="en-US" sz="2450" b="1" kern="0" spc="1" dirty="0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</a:t>
            </a:r>
            <a:r>
              <a:rPr lang="en-US" sz="2450" b="1" kern="0" spc="1" dirty="0" err="1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peut</a:t>
            </a:r>
            <a:r>
              <a:rPr lang="en-US" sz="2450" b="1" kern="0" spc="1" dirty="0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</a:t>
            </a:r>
            <a:r>
              <a:rPr lang="en-US" sz="2450" b="1" kern="0" spc="1" dirty="0" err="1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voir</a:t>
            </a:r>
            <a:r>
              <a:rPr lang="en-US" sz="2450" b="1" kern="0" spc="1" dirty="0" smtClean="0">
                <a:solidFill>
                  <a:srgbClr val="0F1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?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56805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61500" y="1568053"/>
            <a:ext cx="45719" cy="8932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1657194"/>
            <a:ext cx="35361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 smtClean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0094" y="1961779"/>
            <a:ext cx="3536156" cy="56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fr-FR" sz="1050" dirty="0"/>
              <a:t>Grâce à la haute résolution spatiale du CT, on peut délimiter avec précision les contours, la taille et la morphologie des organes ou des lésions.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4875" y="3266170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724875" y="3266170"/>
            <a:ext cx="35719" cy="168056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903469" y="3355311"/>
            <a:ext cx="35361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 smtClean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Metabolisme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03469" y="3719798"/>
            <a:ext cx="3536156" cy="775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fr-FR" sz="1050" dirty="0"/>
              <a:t>L'image finale met en évidence la consommation de traceur </a:t>
            </a:r>
            <a:r>
              <a:rPr lang="fr-FR" sz="1050" dirty="0" smtClean="0"/>
              <a:t>par </a:t>
            </a:r>
            <a:r>
              <a:rPr lang="fr-FR" sz="1050" dirty="0"/>
              <a:t>les cellules, permettant de détecter des anomalies métaboliques souvent avant que des changements physiques ne soient visibles.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3462933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462933"/>
            <a:ext cx="45719" cy="122515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50094" y="3520737"/>
            <a:ext cx="35361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 smtClean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Anatomie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0094" y="3916561"/>
            <a:ext cx="3536156" cy="387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fr-FR" sz="1050" dirty="0"/>
              <a:t>Le scanner </a:t>
            </a:r>
            <a:r>
              <a:rPr lang="fr-FR" sz="1050" dirty="0" smtClean="0"/>
              <a:t>CT </a:t>
            </a:r>
            <a:r>
              <a:rPr lang="fr-FR" sz="1050" dirty="0"/>
              <a:t>fournit une cartographie précise de la structure interne du corps en révélant la densité des différents tissus.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57750" y="1620976"/>
            <a:ext cx="3893344" cy="16805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857750" y="1620976"/>
            <a:ext cx="45719" cy="103286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036344" y="1726079"/>
            <a:ext cx="35361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 smtClean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36344" y="2074604"/>
            <a:ext cx="3536156" cy="387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fr-FR" sz="1050" dirty="0"/>
              <a:t>La TEP permet de visualiser l'activité biologique des tissus en temps réel, montrant comment les organes </a:t>
            </a:r>
            <a:r>
              <a:rPr lang="fr-FR" sz="1050" dirty="0" smtClean="0"/>
              <a:t>fonctionnent.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20805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762</Words>
  <Application>Microsoft Office PowerPoint</Application>
  <PresentationFormat>On-screen Show (16:9)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Inter</vt:lpstr>
      <vt:lpstr>Inter Black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14</cp:revision>
  <dcterms:created xsi:type="dcterms:W3CDTF">2026-05-05T08:01:09Z</dcterms:created>
  <dcterms:modified xsi:type="dcterms:W3CDTF">2026-05-05T11:44:22Z</dcterms:modified>
</cp:coreProperties>
</file>